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 we present our Data Mining solution for Olist E-commerce: an early-warning system that flags high-risk delivery delays at the exact second an order is 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 8% of Olist orders arrive late, causing a catastrophic drop in review scores from 4.15 down to 2.25. The delays are disproportionately high over long distances and regional hubs.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model empowers operations, sellers, and support teams to transition from reactive firefighting to proactive delay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unified 9 distinct relational tables into 96,470 validated orders, generating 67 predictive features without introducing post-checkout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reveals clear structural patterns: Northeast deliveries and long-haul distances (&gt;1500 km) double the risk of late arrival, exacerbated by holiday volume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engineered 67 signals like Haversine distance and freight ratios, while strictly splitting data chronologically to ensure realistic model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transforms raw checkout attributes through a neural model to output instant risk classifications.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Neural Network achieved the highest PR-AUC of 0.1773. On unseen test orders, it successfully flags 1 out of 4 late orders before they even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Distance, tight delivery windows, and freight-to-price ratios are the top predictors driving delay risk in our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live system in action. By inputting order specs, the system instantly outputs a color-coded risk badge and actionable intervention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a 3-tier operational response: High-risk orders trigger priority shipping and proactive messaging, drastically cutting customer dissatisfaction.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highly effective, the model relies on historical data. Integrating real-time weather and carrier APIs will be our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early risk detection turns potential delivery failures into customer touchpoints. Thank you, and we welcome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📦 OLIST LOGISTICS INTELLIGENCE</a:t>
            </a:r>
          </a:p>
          <a:p>
            <a:pPr algn="ctr">
              <a:defRPr sz="3800" b="1">
                <a:solidFill>
                  <a:srgbClr val="F8FAFC"/>
                </a:solidFill>
              </a:defRPr>
            </a:pPr>
            <a:r>
              <a:t>Late Delivery Early Warning System</a:t>
            </a:r>
          </a:p>
          <a:p>
            <a:pPr algn="ctr">
              <a:defRPr sz="1800">
                <a:solidFill>
                  <a:srgbClr val="94A3B8"/>
                </a:solidFill>
              </a:defRPr>
            </a:pPr>
            <a:r>
              <a:t>Predicting Order Delays at Checkout to Safeguard Customer CSAT &amp; Operational Revenue</a:t>
            </a:r>
          </a:p>
          <a:p>
            <a:br/>
            <a:pPr algn="ctr">
              <a:defRPr sz="1400">
                <a:solidFill>
                  <a:srgbClr val="6366F1"/>
                </a:solidFill>
              </a:defRPr>
            </a:pPr>
            <a:r>
              <a:t>Module: IT3051 Fundamentals of Data Mining  |  Dataset Scope: 96,470 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02 — PROBLEM SIZE &amp; CSAT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1 in 12 Orders Arrives Late — Crushing Customer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🚨 Key Problem Metrics:</a:t>
            </a:r>
          </a:p>
          <a:p>
            <a:pPr>
              <a:defRPr sz="1400"/>
            </a:pPr>
            <a:r>
              <a:rPr b="1">
                <a:solidFill>
                  <a:srgbClr val="06B6D4"/>
                </a:solidFill>
              </a:rPr>
              <a:t>• 8.1% Overall Late Rate:</a:t>
            </a:r>
            <a:r>
              <a:rPr>
                <a:solidFill>
                  <a:srgbClr val="F8FAFC"/>
                </a:solidFill>
              </a:rPr>
              <a:t> 7,826 of 96,470 orders arrived past promised date.</a:t>
            </a:r>
          </a:p>
          <a:p>
            <a:pPr>
              <a:defRPr sz="1400"/>
            </a:pPr>
            <a:r>
              <a:rPr b="1">
                <a:solidFill>
                  <a:srgbClr val="06B6D4"/>
                </a:solidFill>
              </a:rPr>
              <a:t>• Regional Disparity:</a:t>
            </a:r>
            <a:r>
              <a:rPr>
                <a:solidFill>
                  <a:srgbClr val="F8FAFC"/>
                </a:solidFill>
              </a:rPr>
              <a:t> Northeast late rate reaches 14.3% vs 7.1% in South.</a:t>
            </a:r>
          </a:p>
          <a:p>
            <a:pPr>
              <a:defRPr sz="1400"/>
            </a:pPr>
            <a:r>
              <a:rPr b="1">
                <a:solidFill>
                  <a:srgbClr val="06B6D4"/>
                </a:solidFill>
              </a:rPr>
              <a:t>• Distance Spike:</a:t>
            </a:r>
            <a:r>
              <a:rPr>
                <a:solidFill>
                  <a:srgbClr val="F8FAFC"/>
                </a:solidFill>
              </a:rPr>
              <a:t> Orders &gt;1,500 km have a 13.1% delay rate.</a:t>
            </a:r>
          </a:p>
          <a:p>
            <a:pPr>
              <a:defRPr sz="1400"/>
            </a:pPr>
            <a:r>
              <a:rPr b="1">
                <a:solidFill>
                  <a:srgbClr val="06B6D4"/>
                </a:solidFill>
              </a:rPr>
              <a:t>• CSAT Collapse:</a:t>
            </a:r>
            <a:r>
              <a:rPr>
                <a:solidFill>
                  <a:srgbClr val="F8FAFC"/>
                </a:solidFill>
              </a:rPr>
              <a:t> Average review score drops from 4.15 ⭐ to 2.25 ⭐.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📊 Customer Satisfaction Impact: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On-Time Orders CSAT: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4.15 / 5.0 ⭐ (88,644 Orders)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Late Orders CSAT:</a:t>
            </a:r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2.25 / 5.0 ⭐ (7,826 Orders) &lt;-- 46% CSAT DROP!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03 — OPERATIONAL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Predict Risk at Order Time to Empower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🏬 Olist Operations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Pain Point: Unseen bottleneck delays.</a:t>
            </a:r>
            <a:br/>
            <a:r>
              <a:t>Action: Automatically route high-risk shipments to express fulfillment.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🏷️ Marketplace Sellers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Pain Point: Bad reviews &amp; seller penalties.</a:t>
            </a:r>
            <a:br/>
            <a:r>
              <a:t>Action: Dispatch high-risk packages with priority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🎧 Customer Support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Pain Point: Inundated with WISMO tickets.</a:t>
            </a:r>
            <a:br/>
            <a:r>
              <a:t>Action: Send proactive status updates before complaints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👤 End Customers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Pain Point: Unrealistic delivery promises.</a:t>
            </a:r>
            <a:br/>
            <a:r>
              <a:t>Action: Receive transparent, realistic delivery timeframes.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04 —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96,470 Orders Integrated Across 9 Datasets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🌺 Integration &amp; Data Scope Overview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Official Source:</a:t>
            </a:r>
            <a:r>
              <a:rPr>
                <a:solidFill>
                  <a:srgbClr val="F8FAFC"/>
                </a:solidFill>
              </a:rPr>
              <a:t> Olist Public E-Commerce Dataset (Kaggle), 2016–2018.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Preserved Scope:</a:t>
            </a:r>
            <a:r>
              <a:rPr>
                <a:solidFill>
                  <a:srgbClr val="F8FAFC"/>
                </a:solidFill>
              </a:rPr>
              <a:t> 96,470 orders merged across 9 relational CSV files.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Engineered Signals:</a:t>
            </a:r>
            <a:r>
              <a:rPr>
                <a:solidFill>
                  <a:srgbClr val="F8FAFC"/>
                </a:solidFill>
              </a:rPr>
              <a:t> 67 signals created (Haversine distance, freight ratio, approval lag, customer state risk).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Leakage Exclusion:</a:t>
            </a:r>
            <a:r>
              <a:rPr>
                <a:solidFill>
                  <a:srgbClr val="F8FAFC"/>
                </a:solidFill>
              </a:rPr>
              <a:t> Post-checkout fields (carrier pickup dates, actual delivery, review text) strictly omitted.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05 — GEOGRAPHIC &amp; DISTANCE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Where &amp; When Delays Happen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🗺️ Late Rate by Region:</a:t>
            </a:r>
          </a:p>
          <a:p>
            <a:pPr>
              <a:defRPr sz="1400">
                <a:solidFill>
                  <a:srgbClr val="EF4444"/>
                </a:solidFill>
              </a:defRPr>
            </a:pPr>
            <a:r>
              <a:t>• Northeast: 14.3% (Highest Risk)</a:t>
            </a:r>
          </a:p>
          <a:p>
            <a:pPr>
              <a:defRPr sz="1400">
                <a:solidFill>
                  <a:srgbClr val="EF4444"/>
                </a:solidFill>
              </a:defRPr>
            </a:pPr>
            <a:r>
              <a:t>• North: 12.5%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Central-West: 9.2%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Southeast: 7.3%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South: 7.1% (Lowest Risk)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🚚 Late Rate by Shipping Distance: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&lt; 250 km: 6.3%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250 - 500 km: 7.2%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500 - 1000 km: 8.8%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1500+ km: 13.1% (Double Risk!)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06 — FEATURE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Turning Raw Noise into Clean Predictive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1. Clean &amp; Geolocate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19,015 ZIP prefixes median centroids.</a:t>
            </a:r>
            <a:br/>
            <a:r>
              <a:t>• Haversine Distance (km) seller-to-customer.</a:t>
            </a:r>
            <a:br/>
            <a:r>
              <a:t>• State-to-region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2. Feature Engineering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freight_to_price_ratio signal.</a:t>
            </a:r>
            <a:br/>
            <a:r>
              <a:t>• estimated_delivery_days window.</a:t>
            </a:r>
            <a:br/>
            <a:r>
              <a:t>• approval_lag_hours processing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3. Time-Series Split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Chronological split (no random shuffle).</a:t>
            </a:r>
            <a:br/>
            <a:r>
              <a:t>• Train: 70% (67,529 orders)</a:t>
            </a:r>
            <a:br/>
            <a:r>
              <a:t>• Val: 15% (14,470) | Test: 15% (14,471)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07 —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End-to-End Machine Learning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⚙️ 4-Stage Predictive Flow: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Stage 1 — Ingest:</a:t>
            </a:r>
            <a:r>
              <a:rPr>
                <a:solidFill>
                  <a:srgbClr val="F8FAFC"/>
                </a:solidFill>
              </a:rPr>
              <a:t> Order specs at checkout (ZIPs, freight, price, promise date).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Stage 2 — Transform:</a:t>
            </a:r>
            <a:r>
              <a:rPr>
                <a:solidFill>
                  <a:srgbClr val="F8FAFC"/>
                </a:solidFill>
              </a:rPr>
              <a:t> Haversine distance, standard scaling &amp; target encoding.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Stage 3 — Predict:</a:t>
            </a:r>
            <a:r>
              <a:rPr>
                <a:solidFill>
                  <a:srgbClr val="F8FAFC"/>
                </a:solidFill>
              </a:rPr>
              <a:t> Deep Neural Network (MLP) inference model.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Stage 4 — Action:</a:t>
            </a:r>
            <a:r>
              <a:rPr>
                <a:solidFill>
                  <a:srgbClr val="F8FAFC"/>
                </a:solidFill>
              </a:rPr>
              <a:t> Risk Score Badge (🟢 Low | 🟡 Medium | 🔴 High).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08 — BENCHMARK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Evaluating the 4 Contenders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🏆 Model Benchmarking (Val Set):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• Neural Net (MLP): PR-AUC: 0.1773 ⭐ Champion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Logistic Regression: PR-AUC: 0.1606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LightGBM: PR-AUC: 0.1508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Random Forest: PR-AUC: 0.1505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📊 Confusion Matrix (14,471 Test Orders):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True Negatives (On-time): 11,110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• False Positives (False Alarms): 2,404</a:t>
            </a:r>
          </a:p>
          <a:p>
            <a:pPr>
              <a:defRPr sz="1400">
                <a:solidFill>
                  <a:srgbClr val="EF4444"/>
                </a:solidFill>
              </a:defRPr>
            </a:pPr>
            <a:r>
              <a:t>• False Negatives (Missed): 709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• True Positives (CAUGHT LATE!): 248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09 — DELAY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Top 10 Delay Drivers Identified by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🔑 Top Feature Importances: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1. Haversine Distance (km):</a:t>
            </a:r>
            <a:r>
              <a:rPr>
                <a:solidFill>
                  <a:srgbClr val="F8FAFC"/>
                </a:solidFill>
              </a:rPr>
              <a:t> #1 single determinant of delay failure.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2. Promised Delivery Days Window:</a:t>
            </a:r>
            <a:r>
              <a:rPr>
                <a:solidFill>
                  <a:srgbClr val="F8FAFC"/>
                </a:solidFill>
              </a:rPr>
              <a:t> Tight estimated windows leave zero logistics buffer.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3. Freight-to-Price Ratio:</a:t>
            </a:r>
            <a:r>
              <a:rPr>
                <a:solidFill>
                  <a:srgbClr val="F8FAFC"/>
                </a:solidFill>
              </a:rPr>
              <a:t> High relative freight reflects bulky/complex cargo handling.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4. Customer State Risk Score:</a:t>
            </a:r>
            <a:r>
              <a:rPr>
                <a:solidFill>
                  <a:srgbClr val="F8FAFC"/>
                </a:solidFill>
              </a:rPr>
              <a:t> Target-encoded regional delay probability.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10 — SYSTEM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Real-Time Order Risk Scoring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🟢 Scenario 1: Low Risk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SP Local Order (ZIP 01001)</a:t>
            </a:r>
            <a:br/>
            <a:r>
              <a:t>• Promised Window: 26 Days</a:t>
            </a:r>
            <a:br/>
            <a:r>
              <a:t>• Result: 12% Risk -&gt; Standard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🔴 Scenario 2: High Risk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Manaus Order (ZIP 69000)</a:t>
            </a:r>
            <a:br/>
            <a:r>
              <a:t>• Promised Window: 7 Days (Tight!)</a:t>
            </a:r>
            <a:br/>
            <a:r>
              <a:t>• Result: 64% Risk -&gt; Trigger Priority Dispatch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11 —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3-Tier Operational Strategy for Olist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💡 3 Risk Tiers &amp; Business Protocols: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🔴 High Risk (&gt; 55%):</a:t>
            </a:r>
            <a:r>
              <a:rPr>
                <a:solidFill>
                  <a:srgbClr val="F8FAFC"/>
                </a:solidFill>
              </a:rPr>
              <a:t> Reroute to express carrier + Send proactive customer notice.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🟡 Medium Risk (30% - 55%):</a:t>
            </a:r>
            <a:r>
              <a:rPr>
                <a:solidFill>
                  <a:srgbClr val="F8FAFC"/>
                </a:solidFill>
              </a:rPr>
              <a:t> Priority 24h packing queue + Flag seller approval lag.</a:t>
            </a:r>
          </a:p>
          <a:p>
            <a:pPr>
              <a:defRPr sz="1500"/>
            </a:pPr>
            <a:r>
              <a:rPr b="1">
                <a:solidFill>
                  <a:srgbClr val="6366F1"/>
                </a:solidFill>
              </a:rPr>
              <a:t>• 🟢 Low Risk (&lt; 30%):</a:t>
            </a:r>
            <a:r>
              <a:rPr>
                <a:solidFill>
                  <a:srgbClr val="F8FAFC"/>
                </a:solidFill>
              </a:rPr>
              <a:t> Standard economic fulfillment flow (zero intervention cost).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12 — BOUNDARIES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Honest Boundaries &amp; Continuous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Limitations: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Static 2016–2018 historical data.</a:t>
            </a:r>
            <a:br/>
            <a:r>
              <a:t>• 8.1% class imbalance limits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🔮 Future Roadmap: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Real-time weather &amp; highway traffic APIs.</a:t>
            </a:r>
            <a:br/>
            <a:r>
              <a:t>• Live carrier 7-day rolling performance scoring.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Outfit"/>
              </a:defRPr>
            </a:pPr>
            <a:r>
              <a:t>SLIDE 13 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Outfit"/>
              </a:defRPr>
            </a:pPr>
            <a:r>
              <a:t>Transforming Delivery Risks into Customer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5752" cy="4572000"/>
          </a:xfrm>
          <a:prstGeom prst="roundRect">
            <a:avLst/>
          </a:prstGeom>
          <a:solidFill>
            <a:srgbClr val="151C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869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🎉 Key Takeaways:</a:t>
            </a:r>
          </a:p>
          <a:p>
            <a:pPr>
              <a:defRPr sz="1600"/>
            </a:pPr>
            <a:r>
              <a:rPr b="1">
                <a:solidFill>
                  <a:srgbClr val="6366F1"/>
                </a:solidFill>
              </a:rPr>
              <a:t>• 1. CSAT Protection:</a:t>
            </a:r>
            <a:r>
              <a:rPr>
                <a:solidFill>
                  <a:srgbClr val="F8FAFC"/>
                </a:solidFill>
              </a:rPr>
              <a:t> 8.1% of orders arrive late, causing a 46% drop in customer reviews.</a:t>
            </a:r>
          </a:p>
          <a:p>
            <a:pPr>
              <a:defRPr sz="1600"/>
            </a:pPr>
            <a:r>
              <a:rPr b="1">
                <a:solidFill>
                  <a:srgbClr val="6366F1"/>
                </a:solidFill>
              </a:rPr>
              <a:t>• 2. High Precision Warning:</a:t>
            </a:r>
            <a:r>
              <a:rPr>
                <a:solidFill>
                  <a:srgbClr val="F8FAFC"/>
                </a:solidFill>
              </a:rPr>
              <a:t> Our Neural Network catches 26% of late orders right at checkout time.</a:t>
            </a:r>
          </a:p>
          <a:p>
            <a:pPr>
              <a:defRPr sz="1600"/>
            </a:pPr>
            <a:r>
              <a:rPr b="1">
                <a:solidFill>
                  <a:srgbClr val="6366F1"/>
                </a:solidFill>
              </a:rPr>
              <a:t>• 3. Actionable Matrix:</a:t>
            </a:r>
            <a:r>
              <a:rPr>
                <a:solidFill>
                  <a:srgbClr val="F8FAFC"/>
                </a:solidFill>
              </a:rPr>
              <a:t> Proactive 3-tiered actions turn potential delivery failures into customer touchpoints.</a:t>
            </a:r>
          </a:p>
          <a:p>
            <a:br/>
            <a:pPr algn="ctr">
              <a:defRPr sz="2400" b="1">
                <a:solidFill>
                  <a:srgbClr val="10B981"/>
                </a:solidFill>
              </a:defRPr>
            </a:pPr>
            <a:r>
              <a:t>Thank You!  |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